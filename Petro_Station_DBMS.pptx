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7" d="100"/>
          <a:sy n="127" d="100"/>
        </p:scale>
        <p:origin x="108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3792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14690D-D77D-4780-87C0-77733956CB13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G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 Station DBMS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– Oil &amp; Gas | Wasenda Blasio Marvin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95422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600" dirty="0">
              <a:solidFill>
                <a:schemeClr val="bg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E23FBFE-4D75-43B1-8F79-FA661733D003}"/>
              </a:ext>
            </a:extLst>
          </p:cNvPr>
          <p:cNvGrpSpPr/>
          <p:nvPr/>
        </p:nvGrpSpPr>
        <p:grpSpPr>
          <a:xfrm>
            <a:off x="457200" y="1045031"/>
            <a:ext cx="8229600" cy="1097280"/>
            <a:chOff x="457200" y="1045031"/>
            <a:chExt cx="8229600" cy="1097280"/>
          </a:xfrm>
        </p:grpSpPr>
        <p:sp>
          <p:nvSpPr>
            <p:cNvPr id="16" name="Shape 2">
              <a:extLst>
                <a:ext uri="{FF2B5EF4-FFF2-40B4-BE49-F238E27FC236}">
                  <a16:creationId xmlns:a16="http://schemas.microsoft.com/office/drawing/2014/main" id="{FD7ED286-CD47-404F-9575-AE7D0F595451}"/>
                </a:ext>
              </a:extLst>
            </p:cNvPr>
            <p:cNvSpPr/>
            <p:nvPr/>
          </p:nvSpPr>
          <p:spPr>
            <a:xfrm>
              <a:off x="457200" y="1045031"/>
              <a:ext cx="8229600" cy="1097280"/>
            </a:xfrm>
            <a:prstGeom prst="rect">
              <a:avLst/>
            </a:prstGeom>
            <a:solidFill>
              <a:srgbClr val="FFE8E8"/>
            </a:solidFill>
            <a:ln w="12700">
              <a:solidFill>
                <a:srgbClr val="2F3F4F"/>
              </a:solidFill>
              <a:prstDash val="solid"/>
            </a:ln>
          </p:spPr>
        </p:sp>
        <p:sp>
          <p:nvSpPr>
            <p:cNvPr id="17" name="Text 3">
              <a:extLst>
                <a:ext uri="{FF2B5EF4-FFF2-40B4-BE49-F238E27FC236}">
                  <a16:creationId xmlns:a16="http://schemas.microsoft.com/office/drawing/2014/main" id="{F3FAF3CC-1C9D-4FA0-8086-AD5BD8FD9FBD}"/>
                </a:ext>
              </a:extLst>
            </p:cNvPr>
            <p:cNvSpPr/>
            <p:nvPr/>
          </p:nvSpPr>
          <p:spPr>
            <a:xfrm>
              <a:off x="731520" y="1136471"/>
              <a:ext cx="1371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Current Issues</a:t>
              </a:r>
              <a:endParaRPr lang="en-US" sz="1400" dirty="0"/>
            </a:p>
          </p:txBody>
        </p:sp>
        <p:sp>
          <p:nvSpPr>
            <p:cNvPr id="18" name="Text 4">
              <a:extLst>
                <a:ext uri="{FF2B5EF4-FFF2-40B4-BE49-F238E27FC236}">
                  <a16:creationId xmlns:a16="http://schemas.microsoft.com/office/drawing/2014/main" id="{E30ACCAC-F49B-45CF-A2A2-FB6832A79E9B}"/>
                </a:ext>
              </a:extLst>
            </p:cNvPr>
            <p:cNvSpPr/>
            <p:nvPr/>
          </p:nvSpPr>
          <p:spPr>
            <a:xfrm>
              <a:off x="731520" y="1502231"/>
              <a:ext cx="74980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Manual records, revenue leakage, weak customer management</a:t>
              </a:r>
              <a:endParaRPr lang="en-US" sz="1300" dirty="0"/>
            </a:p>
          </p:txBody>
        </p:sp>
      </p:grpSp>
      <p:sp>
        <p:nvSpPr>
          <p:cNvPr id="19" name="Shape 5">
            <a:extLst>
              <a:ext uri="{FF2B5EF4-FFF2-40B4-BE49-F238E27FC236}">
                <a16:creationId xmlns:a16="http://schemas.microsoft.com/office/drawing/2014/main" id="{15318EF0-A640-4D9D-8303-ADDDD7E8AF79}"/>
              </a:ext>
            </a:extLst>
          </p:cNvPr>
          <p:cNvSpPr/>
          <p:nvPr/>
        </p:nvSpPr>
        <p:spPr>
          <a:xfrm>
            <a:off x="457200" y="2325191"/>
            <a:ext cx="8229600" cy="1097280"/>
          </a:xfrm>
          <a:prstGeom prst="rect">
            <a:avLst/>
          </a:prstGeom>
          <a:solidFill>
            <a:srgbClr val="E0F7F6"/>
          </a:solidFill>
          <a:ln w="12700">
            <a:solidFill>
              <a:srgbClr val="2F3F4F"/>
            </a:solidFill>
            <a:prstDash val="solid"/>
          </a:ln>
        </p:spPr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A98C85A1-31AF-4023-AEB7-CC98755D4394}"/>
              </a:ext>
            </a:extLst>
          </p:cNvPr>
          <p:cNvSpPr/>
          <p:nvPr/>
        </p:nvSpPr>
        <p:spPr>
          <a:xfrm>
            <a:off x="731519" y="2416631"/>
            <a:ext cx="16449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4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2300A252-3F9F-4593-8179-D7BC82CB4C8C}"/>
              </a:ext>
            </a:extLst>
          </p:cNvPr>
          <p:cNvSpPr/>
          <p:nvPr/>
        </p:nvSpPr>
        <p:spPr>
          <a:xfrm>
            <a:off x="731520" y="2782391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F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Integrated DBMS consolidating all operations</a:t>
            </a:r>
            <a:endParaRPr lang="en-US" sz="1300" dirty="0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3B283C53-2008-43F2-AF3A-D3E92CC30D4E}"/>
              </a:ext>
            </a:extLst>
          </p:cNvPr>
          <p:cNvSpPr/>
          <p:nvPr/>
        </p:nvSpPr>
        <p:spPr>
          <a:xfrm>
            <a:off x="457200" y="3605351"/>
            <a:ext cx="8229600" cy="1097280"/>
          </a:xfrm>
          <a:prstGeom prst="rect">
            <a:avLst/>
          </a:prstGeom>
          <a:solidFill>
            <a:srgbClr val="FFF3E0"/>
          </a:solidFill>
          <a:ln w="12700">
            <a:solidFill>
              <a:srgbClr val="2F3F4F"/>
            </a:solidFill>
            <a:prstDash val="solid"/>
          </a:ln>
        </p:spPr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7BCBF2B7-CBA8-48F1-8CF5-E70F9DABC83C}"/>
              </a:ext>
            </a:extLst>
          </p:cNvPr>
          <p:cNvSpPr/>
          <p:nvPr/>
        </p:nvSpPr>
        <p:spPr>
          <a:xfrm>
            <a:off x="731520" y="3696791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76FC4EAB-FD57-4E5E-AB32-958F033413F1}"/>
              </a:ext>
            </a:extLst>
          </p:cNvPr>
          <p:cNvSpPr/>
          <p:nvPr/>
        </p:nvSpPr>
        <p:spPr>
          <a:xfrm>
            <a:off x="731520" y="4062551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F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Efficiency, accountability, timely business intelligence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0435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11499" y="3617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Domain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82999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8C4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Supports full petrol station lifecycle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" y="1147018"/>
            <a:ext cx="7772400" cy="12188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F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Fuel retailing, customer accounts, suppliers, HR, reporting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F3F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Central repository &amp; intelligence layer (not replacing POS hardware)</a:t>
            </a:r>
            <a:endParaRPr lang="en-US" sz="14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124A1BC-3EDC-49FB-A24F-990A468DD54A}"/>
              </a:ext>
            </a:extLst>
          </p:cNvPr>
          <p:cNvGrpSpPr/>
          <p:nvPr/>
        </p:nvGrpSpPr>
        <p:grpSpPr>
          <a:xfrm>
            <a:off x="457200" y="2777618"/>
            <a:ext cx="1280160" cy="640080"/>
            <a:chOff x="457200" y="4764928"/>
            <a:chExt cx="1280160" cy="640080"/>
          </a:xfrm>
        </p:grpSpPr>
        <p:sp>
          <p:nvSpPr>
            <p:cNvPr id="6" name="Shape 4"/>
            <p:cNvSpPr/>
            <p:nvPr/>
          </p:nvSpPr>
          <p:spPr>
            <a:xfrm>
              <a:off x="457200" y="4764928"/>
              <a:ext cx="1280160" cy="640080"/>
            </a:xfrm>
            <a:prstGeom prst="rect">
              <a:avLst/>
            </a:prstGeom>
            <a:solidFill>
              <a:srgbClr val="00A896"/>
            </a:solidFill>
            <a:ln w="12700">
              <a:solidFill>
                <a:srgbClr val="2F3F4F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457200" y="4908619"/>
              <a:ext cx="1280160" cy="37179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Fuel</a:t>
              </a:r>
              <a:endParaRPr lang="en-US" sz="1100" dirty="0"/>
            </a:p>
          </p:txBody>
        </p:sp>
      </p:grpSp>
      <p:sp>
        <p:nvSpPr>
          <p:cNvPr id="9" name="Text 7"/>
          <p:cNvSpPr/>
          <p:nvPr/>
        </p:nvSpPr>
        <p:spPr>
          <a:xfrm>
            <a:off x="1874520" y="4908619"/>
            <a:ext cx="1280160" cy="371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4908618"/>
            <a:ext cx="1280160" cy="371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986FDB5-120E-436E-9796-81B63DF78084}"/>
              </a:ext>
            </a:extLst>
          </p:cNvPr>
          <p:cNvGrpSpPr/>
          <p:nvPr/>
        </p:nvGrpSpPr>
        <p:grpSpPr>
          <a:xfrm>
            <a:off x="4709162" y="2782642"/>
            <a:ext cx="1280160" cy="640080"/>
            <a:chOff x="4709160" y="4754880"/>
            <a:chExt cx="1280160" cy="640080"/>
          </a:xfrm>
        </p:grpSpPr>
        <p:sp>
          <p:nvSpPr>
            <p:cNvPr id="12" name="Shape 10"/>
            <p:cNvSpPr/>
            <p:nvPr/>
          </p:nvSpPr>
          <p:spPr>
            <a:xfrm>
              <a:off x="4709160" y="4754880"/>
              <a:ext cx="1280160" cy="640080"/>
            </a:xfrm>
            <a:prstGeom prst="rect">
              <a:avLst/>
            </a:prstGeom>
            <a:solidFill>
              <a:srgbClr val="FF8C42"/>
            </a:solidFill>
            <a:ln w="12700">
              <a:solidFill>
                <a:srgbClr val="2F3F4F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4709160" y="4908618"/>
              <a:ext cx="1280160" cy="27959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HR</a:t>
              </a:r>
              <a:endParaRPr lang="en-US" sz="11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491B55E-4C3C-422F-94E4-DADA16F6666A}"/>
              </a:ext>
            </a:extLst>
          </p:cNvPr>
          <p:cNvGrpSpPr/>
          <p:nvPr/>
        </p:nvGrpSpPr>
        <p:grpSpPr>
          <a:xfrm>
            <a:off x="6126482" y="2782642"/>
            <a:ext cx="1280160" cy="640080"/>
            <a:chOff x="6126480" y="4754880"/>
            <a:chExt cx="1280160" cy="640080"/>
          </a:xfrm>
        </p:grpSpPr>
        <p:sp>
          <p:nvSpPr>
            <p:cNvPr id="14" name="Shape 12"/>
            <p:cNvSpPr/>
            <p:nvPr/>
          </p:nvSpPr>
          <p:spPr>
            <a:xfrm>
              <a:off x="6126480" y="4754880"/>
              <a:ext cx="1280160" cy="640080"/>
            </a:xfrm>
            <a:prstGeom prst="rect">
              <a:avLst/>
            </a:prstGeom>
            <a:solidFill>
              <a:srgbClr val="00A896"/>
            </a:solidFill>
            <a:ln w="12700">
              <a:solidFill>
                <a:srgbClr val="2F3F4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6126480" y="4843305"/>
              <a:ext cx="1280160" cy="4371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Reporting</a:t>
              </a:r>
              <a:endParaRPr lang="en-US" sz="11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ACF97C4-CBE5-49C4-A501-C477EBD0A2FB}"/>
              </a:ext>
            </a:extLst>
          </p:cNvPr>
          <p:cNvGrpSpPr/>
          <p:nvPr/>
        </p:nvGrpSpPr>
        <p:grpSpPr>
          <a:xfrm>
            <a:off x="7543802" y="2782642"/>
            <a:ext cx="1280160" cy="640080"/>
            <a:chOff x="7543800" y="4754880"/>
            <a:chExt cx="1280160" cy="640080"/>
          </a:xfrm>
        </p:grpSpPr>
        <p:sp>
          <p:nvSpPr>
            <p:cNvPr id="16" name="Shape 14"/>
            <p:cNvSpPr/>
            <p:nvPr/>
          </p:nvSpPr>
          <p:spPr>
            <a:xfrm>
              <a:off x="7543800" y="4754880"/>
              <a:ext cx="1280160" cy="640080"/>
            </a:xfrm>
            <a:prstGeom prst="rect">
              <a:avLst/>
            </a:prstGeom>
            <a:solidFill>
              <a:srgbClr val="FF8C42"/>
            </a:solidFill>
            <a:ln w="12700">
              <a:solidFill>
                <a:srgbClr val="2F3F4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7543800" y="4908618"/>
              <a:ext cx="1280160" cy="3104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Suppliers</a:t>
              </a:r>
              <a:endParaRPr lang="en-US" sz="11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806C451-C378-4049-9FA1-769CF74D3FD5}"/>
              </a:ext>
            </a:extLst>
          </p:cNvPr>
          <p:cNvGrpSpPr/>
          <p:nvPr/>
        </p:nvGrpSpPr>
        <p:grpSpPr>
          <a:xfrm>
            <a:off x="1874520" y="2777618"/>
            <a:ext cx="1280160" cy="640080"/>
            <a:chOff x="1874520" y="4790049"/>
            <a:chExt cx="1280160" cy="640080"/>
          </a:xfrm>
        </p:grpSpPr>
        <p:sp>
          <p:nvSpPr>
            <p:cNvPr id="19" name="Shape 6">
              <a:extLst>
                <a:ext uri="{FF2B5EF4-FFF2-40B4-BE49-F238E27FC236}">
                  <a16:creationId xmlns:a16="http://schemas.microsoft.com/office/drawing/2014/main" id="{0C0CDBF7-97B8-41C2-AF46-EC98D9825199}"/>
                </a:ext>
              </a:extLst>
            </p:cNvPr>
            <p:cNvSpPr/>
            <p:nvPr/>
          </p:nvSpPr>
          <p:spPr>
            <a:xfrm>
              <a:off x="1874520" y="4790049"/>
              <a:ext cx="1280160" cy="640080"/>
            </a:xfrm>
            <a:prstGeom prst="rect">
              <a:avLst/>
            </a:prstGeom>
            <a:solidFill>
              <a:srgbClr val="FF8C42"/>
            </a:solidFill>
            <a:ln w="12700">
              <a:solidFill>
                <a:srgbClr val="2F3F4F"/>
              </a:solidFill>
              <a:prstDash val="solid"/>
            </a:ln>
          </p:spPr>
        </p:sp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5ED5EBF1-3E42-465B-B509-DDE48026FCE4}"/>
                </a:ext>
              </a:extLst>
            </p:cNvPr>
            <p:cNvSpPr/>
            <p:nvPr/>
          </p:nvSpPr>
          <p:spPr>
            <a:xfrm>
              <a:off x="1874520" y="4943788"/>
              <a:ext cx="1280160" cy="3265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Sales</a:t>
              </a:r>
              <a:endParaRPr lang="en-US" sz="11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FB26782-94E3-41DD-A401-7DF6282D3937}"/>
              </a:ext>
            </a:extLst>
          </p:cNvPr>
          <p:cNvGrpSpPr/>
          <p:nvPr/>
        </p:nvGrpSpPr>
        <p:grpSpPr>
          <a:xfrm>
            <a:off x="3291840" y="2777618"/>
            <a:ext cx="1280160" cy="640080"/>
            <a:chOff x="3291840" y="4840292"/>
            <a:chExt cx="1280160" cy="640080"/>
          </a:xfrm>
        </p:grpSpPr>
        <p:sp>
          <p:nvSpPr>
            <p:cNvPr id="22" name="Shape 8">
              <a:extLst>
                <a:ext uri="{FF2B5EF4-FFF2-40B4-BE49-F238E27FC236}">
                  <a16:creationId xmlns:a16="http://schemas.microsoft.com/office/drawing/2014/main" id="{2EC7A7E1-7BB2-4F8E-8151-AD37F383E382}"/>
                </a:ext>
              </a:extLst>
            </p:cNvPr>
            <p:cNvSpPr/>
            <p:nvPr/>
          </p:nvSpPr>
          <p:spPr>
            <a:xfrm>
              <a:off x="3291840" y="4840292"/>
              <a:ext cx="1280160" cy="640080"/>
            </a:xfrm>
            <a:prstGeom prst="rect">
              <a:avLst/>
            </a:prstGeom>
            <a:solidFill>
              <a:srgbClr val="00A896"/>
            </a:solidFill>
            <a:ln w="12700">
              <a:solidFill>
                <a:srgbClr val="2F3F4F"/>
              </a:solidFill>
              <a:prstDash val="solid"/>
            </a:ln>
          </p:spPr>
        </p:sp>
        <p:sp>
          <p:nvSpPr>
            <p:cNvPr id="23" name="Text 9">
              <a:extLst>
                <a:ext uri="{FF2B5EF4-FFF2-40B4-BE49-F238E27FC236}">
                  <a16:creationId xmlns:a16="http://schemas.microsoft.com/office/drawing/2014/main" id="{2670D224-5642-41D9-AEB2-6D395636D98F}"/>
                </a:ext>
              </a:extLst>
            </p:cNvPr>
            <p:cNvSpPr/>
            <p:nvPr/>
          </p:nvSpPr>
          <p:spPr>
            <a:xfrm>
              <a:off x="3291840" y="4948812"/>
              <a:ext cx="1280160" cy="37179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Customers</a:t>
              </a:r>
              <a:endParaRPr lang="en-US" sz="11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1741" y="102493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Operations</a:t>
            </a:r>
            <a:endParaRPr lang="en-US" sz="3600" dirty="0">
              <a:solidFill>
                <a:schemeClr val="bg1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67ADEF6-DD4A-4D8D-837D-4744CDC09A5B}"/>
              </a:ext>
            </a:extLst>
          </p:cNvPr>
          <p:cNvGrpSpPr/>
          <p:nvPr/>
        </p:nvGrpSpPr>
        <p:grpSpPr>
          <a:xfrm>
            <a:off x="457200" y="878230"/>
            <a:ext cx="8229600" cy="594360"/>
            <a:chOff x="457200" y="878230"/>
            <a:chExt cx="8229600" cy="594360"/>
          </a:xfrm>
        </p:grpSpPr>
        <p:sp>
          <p:nvSpPr>
            <p:cNvPr id="4" name="Shape 2"/>
            <p:cNvSpPr/>
            <p:nvPr/>
          </p:nvSpPr>
          <p:spPr>
            <a:xfrm>
              <a:off x="457200" y="878230"/>
              <a:ext cx="8229600" cy="594360"/>
            </a:xfrm>
            <a:prstGeom prst="rect">
              <a:avLst/>
            </a:prstGeom>
            <a:solidFill>
              <a:srgbClr val="E0F7F6"/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731520" y="878230"/>
              <a:ext cx="777240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28090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Fuel Ops: pump allocation, tank deliveries, variance reconciliation</a:t>
              </a:r>
              <a:endParaRPr lang="en-US" sz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B3C65CB-30DD-402A-97EB-43CE34159F61}"/>
              </a:ext>
            </a:extLst>
          </p:cNvPr>
          <p:cNvGrpSpPr/>
          <p:nvPr/>
        </p:nvGrpSpPr>
        <p:grpSpPr>
          <a:xfrm>
            <a:off x="457200" y="1564030"/>
            <a:ext cx="8229600" cy="594360"/>
            <a:chOff x="457200" y="1564030"/>
            <a:chExt cx="8229600" cy="594360"/>
          </a:xfrm>
        </p:grpSpPr>
        <p:sp>
          <p:nvSpPr>
            <p:cNvPr id="6" name="Shape 4"/>
            <p:cNvSpPr/>
            <p:nvPr/>
          </p:nvSpPr>
          <p:spPr>
            <a:xfrm>
              <a:off x="457200" y="1564030"/>
              <a:ext cx="8229600" cy="594360"/>
            </a:xfrm>
            <a:prstGeom prst="rect">
              <a:avLst/>
            </a:prstGeom>
            <a:solidFill>
              <a:srgbClr val="FF8C42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731520" y="1564030"/>
              <a:ext cx="777240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Sales: cash/card/mobile transactions, shift summaries</a:t>
              </a:r>
              <a:endParaRPr lang="en-US" sz="12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88A9A95-FA94-424A-86FC-55DA543C9B84}"/>
              </a:ext>
            </a:extLst>
          </p:cNvPr>
          <p:cNvGrpSpPr/>
          <p:nvPr/>
        </p:nvGrpSpPr>
        <p:grpSpPr>
          <a:xfrm>
            <a:off x="457200" y="2249830"/>
            <a:ext cx="8229600" cy="594360"/>
            <a:chOff x="457200" y="2249830"/>
            <a:chExt cx="8229600" cy="594360"/>
          </a:xfrm>
        </p:grpSpPr>
        <p:sp>
          <p:nvSpPr>
            <p:cNvPr id="8" name="Shape 6"/>
            <p:cNvSpPr/>
            <p:nvPr/>
          </p:nvSpPr>
          <p:spPr>
            <a:xfrm>
              <a:off x="457200" y="2249830"/>
              <a:ext cx="8229600" cy="594360"/>
            </a:xfrm>
            <a:prstGeom prst="rect">
              <a:avLst/>
            </a:prstGeom>
            <a:solidFill>
              <a:srgbClr val="00A896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731520" y="2249830"/>
              <a:ext cx="777240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Customer Mgmt: fleet accounts, credit limits, loyalty rewards</a:t>
              </a:r>
              <a:endParaRPr lang="en-US" sz="12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2F60C70-C761-4933-B0BE-8E99E6192C87}"/>
              </a:ext>
            </a:extLst>
          </p:cNvPr>
          <p:cNvGrpSpPr/>
          <p:nvPr/>
        </p:nvGrpSpPr>
        <p:grpSpPr>
          <a:xfrm>
            <a:off x="457200" y="2935630"/>
            <a:ext cx="8229600" cy="594360"/>
            <a:chOff x="457200" y="2935630"/>
            <a:chExt cx="8229600" cy="594360"/>
          </a:xfrm>
        </p:grpSpPr>
        <p:sp>
          <p:nvSpPr>
            <p:cNvPr id="10" name="Shape 8"/>
            <p:cNvSpPr/>
            <p:nvPr/>
          </p:nvSpPr>
          <p:spPr>
            <a:xfrm>
              <a:off x="457200" y="2935630"/>
              <a:ext cx="8229600" cy="594360"/>
            </a:xfrm>
            <a:prstGeom prst="rect">
              <a:avLst/>
            </a:prstGeom>
            <a:solidFill>
              <a:srgbClr val="E0F7F6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731520" y="2935630"/>
              <a:ext cx="777240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28090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Procurement: purchase orders, supplier evaluation</a:t>
              </a:r>
              <a:endParaRPr lang="en-US" sz="12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5C829F5-18E5-4379-8FEA-931568DB11E2}"/>
              </a:ext>
            </a:extLst>
          </p:cNvPr>
          <p:cNvGrpSpPr/>
          <p:nvPr/>
        </p:nvGrpSpPr>
        <p:grpSpPr>
          <a:xfrm>
            <a:off x="457200" y="3621430"/>
            <a:ext cx="8229600" cy="594360"/>
            <a:chOff x="457200" y="3621430"/>
            <a:chExt cx="8229600" cy="594360"/>
          </a:xfrm>
        </p:grpSpPr>
        <p:sp>
          <p:nvSpPr>
            <p:cNvPr id="12" name="Shape 10"/>
            <p:cNvSpPr/>
            <p:nvPr/>
          </p:nvSpPr>
          <p:spPr>
            <a:xfrm>
              <a:off x="457200" y="3621430"/>
              <a:ext cx="8229600" cy="594360"/>
            </a:xfrm>
            <a:prstGeom prst="rect">
              <a:avLst/>
            </a:prstGeom>
            <a:solidFill>
              <a:srgbClr val="FF8C42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731520" y="3621430"/>
              <a:ext cx="777240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HR: rostering, payroll, leave</a:t>
              </a:r>
              <a:endParaRPr lang="en-US" sz="12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6E3F566-C342-46E8-8AD6-4D0F4E9085DC}"/>
              </a:ext>
            </a:extLst>
          </p:cNvPr>
          <p:cNvGrpSpPr/>
          <p:nvPr/>
        </p:nvGrpSpPr>
        <p:grpSpPr>
          <a:xfrm>
            <a:off x="457200" y="4307230"/>
            <a:ext cx="8229600" cy="594360"/>
            <a:chOff x="457200" y="4307230"/>
            <a:chExt cx="8229600" cy="594360"/>
          </a:xfrm>
        </p:grpSpPr>
        <p:sp>
          <p:nvSpPr>
            <p:cNvPr id="14" name="Shape 12"/>
            <p:cNvSpPr/>
            <p:nvPr/>
          </p:nvSpPr>
          <p:spPr>
            <a:xfrm>
              <a:off x="457200" y="4307230"/>
              <a:ext cx="8229600" cy="594360"/>
            </a:xfrm>
            <a:prstGeom prst="rect">
              <a:avLst/>
            </a:prstGeom>
            <a:solidFill>
              <a:srgbClr val="00A896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731520" y="4307230"/>
              <a:ext cx="777240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Equipment: calibration, maintenance logs</a:t>
              </a:r>
              <a:endParaRPr lang="en-US" sz="1200" dirty="0"/>
            </a:p>
          </p:txBody>
        </p:sp>
      </p:grpSp>
      <p:sp>
        <p:nvSpPr>
          <p:cNvPr id="16" name="Shape 14"/>
          <p:cNvSpPr/>
          <p:nvPr/>
        </p:nvSpPr>
        <p:spPr>
          <a:xfrm>
            <a:off x="457200" y="5852160"/>
            <a:ext cx="8229600" cy="594360"/>
          </a:xfrm>
          <a:prstGeom prst="rect">
            <a:avLst/>
          </a:prstGeom>
          <a:solidFill>
            <a:srgbClr val="E0F7F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8521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Reporting: dashboards, compliance reports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01934" y="685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Groups &amp; Roles</a:t>
            </a:r>
            <a:endParaRPr lang="en-US" sz="3600" dirty="0">
              <a:solidFill>
                <a:schemeClr val="bg1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C801F3F-80E7-4B27-AA88-35C6C96CE11D}"/>
              </a:ext>
            </a:extLst>
          </p:cNvPr>
          <p:cNvGrpSpPr/>
          <p:nvPr/>
        </p:nvGrpSpPr>
        <p:grpSpPr>
          <a:xfrm>
            <a:off x="457200" y="998808"/>
            <a:ext cx="8229600" cy="473273"/>
            <a:chOff x="457200" y="843061"/>
            <a:chExt cx="8229600" cy="473273"/>
          </a:xfrm>
        </p:grpSpPr>
        <p:sp>
          <p:nvSpPr>
            <p:cNvPr id="4" name="Shape 2"/>
            <p:cNvSpPr/>
            <p:nvPr/>
          </p:nvSpPr>
          <p:spPr>
            <a:xfrm>
              <a:off x="457200" y="843061"/>
              <a:ext cx="8229600" cy="473273"/>
            </a:xfrm>
            <a:prstGeom prst="rect">
              <a:avLst/>
            </a:prstGeom>
            <a:solidFill>
              <a:srgbClr val="F5F5F5"/>
            </a:solidFill>
            <a:ln w="25400">
              <a:solidFill>
                <a:srgbClr val="FF8C42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731520" y="888781"/>
              <a:ext cx="2743200" cy="2227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Station Manager</a:t>
              </a:r>
              <a:endParaRPr lang="en-US" sz="13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31520" y="1073671"/>
              <a:ext cx="7315200" cy="19487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Full admin, dashboards</a:t>
              </a:r>
              <a:endParaRPr lang="en-US" sz="11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246472B-A6BD-4403-91F0-374D29FB1B2A}"/>
              </a:ext>
            </a:extLst>
          </p:cNvPr>
          <p:cNvGrpSpPr/>
          <p:nvPr/>
        </p:nvGrpSpPr>
        <p:grpSpPr>
          <a:xfrm>
            <a:off x="457200" y="1677077"/>
            <a:ext cx="8229600" cy="473273"/>
            <a:chOff x="457200" y="1757461"/>
            <a:chExt cx="8229600" cy="473273"/>
          </a:xfrm>
        </p:grpSpPr>
        <p:sp>
          <p:nvSpPr>
            <p:cNvPr id="7" name="Shape 5"/>
            <p:cNvSpPr/>
            <p:nvPr/>
          </p:nvSpPr>
          <p:spPr>
            <a:xfrm>
              <a:off x="457200" y="1757461"/>
              <a:ext cx="8229600" cy="473273"/>
            </a:xfrm>
            <a:prstGeom prst="rect">
              <a:avLst/>
            </a:prstGeom>
            <a:solidFill>
              <a:srgbClr val="F5F5F5"/>
            </a:solidFill>
            <a:ln w="25400">
              <a:solidFill>
                <a:srgbClr val="FF8C42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731520" y="1803181"/>
              <a:ext cx="2743200" cy="2227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Pump Attendants</a:t>
              </a:r>
              <a:endParaRPr lang="en-US" sz="13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31520" y="1988071"/>
              <a:ext cx="7315200" cy="19487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Transaction entry only</a:t>
              </a:r>
              <a:endParaRPr lang="en-US" sz="11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0F93EF3-6F4D-4F0C-9128-590CC001CF6E}"/>
              </a:ext>
            </a:extLst>
          </p:cNvPr>
          <p:cNvGrpSpPr/>
          <p:nvPr/>
        </p:nvGrpSpPr>
        <p:grpSpPr>
          <a:xfrm>
            <a:off x="457200" y="2370410"/>
            <a:ext cx="8229600" cy="473273"/>
            <a:chOff x="457200" y="2671861"/>
            <a:chExt cx="8229600" cy="473273"/>
          </a:xfrm>
        </p:grpSpPr>
        <p:sp>
          <p:nvSpPr>
            <p:cNvPr id="10" name="Shape 8"/>
            <p:cNvSpPr/>
            <p:nvPr/>
          </p:nvSpPr>
          <p:spPr>
            <a:xfrm>
              <a:off x="457200" y="2671861"/>
              <a:ext cx="8229600" cy="473273"/>
            </a:xfrm>
            <a:prstGeom prst="rect">
              <a:avLst/>
            </a:prstGeom>
            <a:solidFill>
              <a:srgbClr val="F5F5F5"/>
            </a:solidFill>
            <a:ln w="25400">
              <a:solidFill>
                <a:srgbClr val="FF8C42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731520" y="2717581"/>
              <a:ext cx="2743200" cy="2227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Cashier/Clerk</a:t>
              </a:r>
              <a:endParaRPr lang="en-US" sz="13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31520" y="2902471"/>
              <a:ext cx="7315200" cy="19487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Finance &amp; customer modules</a:t>
              </a:r>
              <a:endParaRPr lang="en-US" sz="11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BEACE38-566C-4EAE-9F9E-E793A38D2E65}"/>
              </a:ext>
            </a:extLst>
          </p:cNvPr>
          <p:cNvGrpSpPr/>
          <p:nvPr/>
        </p:nvGrpSpPr>
        <p:grpSpPr>
          <a:xfrm>
            <a:off x="457200" y="3113990"/>
            <a:ext cx="8229600" cy="473273"/>
            <a:chOff x="457200" y="3586261"/>
            <a:chExt cx="8229600" cy="473273"/>
          </a:xfrm>
        </p:grpSpPr>
        <p:sp>
          <p:nvSpPr>
            <p:cNvPr id="13" name="Shape 11"/>
            <p:cNvSpPr/>
            <p:nvPr/>
          </p:nvSpPr>
          <p:spPr>
            <a:xfrm>
              <a:off x="457200" y="3586261"/>
              <a:ext cx="8229600" cy="473273"/>
            </a:xfrm>
            <a:prstGeom prst="rect">
              <a:avLst/>
            </a:prstGeom>
            <a:solidFill>
              <a:srgbClr val="F5F5F5"/>
            </a:solidFill>
            <a:ln w="25400">
              <a:solidFill>
                <a:srgbClr val="FF8C42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731520" y="3631981"/>
              <a:ext cx="2743200" cy="2227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Procurement Officer</a:t>
              </a:r>
              <a:endParaRPr lang="en-US" sz="13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31520" y="3816871"/>
              <a:ext cx="7315200" cy="19487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Supplier &amp; inventory modules</a:t>
              </a:r>
              <a:endParaRPr lang="en-US" sz="11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56E1896-3046-40D2-A36F-75DADAD72B9D}"/>
              </a:ext>
            </a:extLst>
          </p:cNvPr>
          <p:cNvGrpSpPr/>
          <p:nvPr/>
        </p:nvGrpSpPr>
        <p:grpSpPr>
          <a:xfrm>
            <a:off x="457200" y="3827426"/>
            <a:ext cx="8229600" cy="473273"/>
            <a:chOff x="457200" y="4500661"/>
            <a:chExt cx="8229600" cy="473273"/>
          </a:xfrm>
        </p:grpSpPr>
        <p:sp>
          <p:nvSpPr>
            <p:cNvPr id="16" name="Shape 14"/>
            <p:cNvSpPr/>
            <p:nvPr/>
          </p:nvSpPr>
          <p:spPr>
            <a:xfrm>
              <a:off x="457200" y="4500661"/>
              <a:ext cx="8229600" cy="473273"/>
            </a:xfrm>
            <a:prstGeom prst="rect">
              <a:avLst/>
            </a:prstGeom>
            <a:solidFill>
              <a:srgbClr val="F5F5F5"/>
            </a:solidFill>
            <a:ln w="25400">
              <a:solidFill>
                <a:srgbClr val="FF8C42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731520" y="4546381"/>
              <a:ext cx="2743200" cy="2227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Owner/Director</a:t>
              </a:r>
              <a:endParaRPr lang="en-US" sz="13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731520" y="4731271"/>
              <a:ext cx="7315200" cy="19487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Read-only executive reports</a:t>
              </a:r>
              <a:endParaRPr lang="en-US" sz="11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0435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98435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3600" dirty="0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4837B09-DB8A-449A-B39A-2F82F7B53AE9}"/>
              </a:ext>
            </a:extLst>
          </p:cNvPr>
          <p:cNvGrpSpPr/>
          <p:nvPr/>
        </p:nvGrpSpPr>
        <p:grpSpPr>
          <a:xfrm>
            <a:off x="457200" y="1374615"/>
            <a:ext cx="4114800" cy="2087042"/>
            <a:chOff x="457200" y="1645920"/>
            <a:chExt cx="4114800" cy="3017520"/>
          </a:xfrm>
        </p:grpSpPr>
        <p:sp>
          <p:nvSpPr>
            <p:cNvPr id="4" name="Text 2"/>
            <p:cNvSpPr/>
            <p:nvPr/>
          </p:nvSpPr>
          <p:spPr>
            <a:xfrm>
              <a:off x="457200" y="1645920"/>
              <a:ext cx="4114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8C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Functional</a:t>
              </a:r>
              <a:endParaRPr lang="en-US" sz="16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457200" y="2103120"/>
              <a:ext cx="4114800" cy="2560320"/>
            </a:xfrm>
            <a:prstGeom prst="rect">
              <a:avLst/>
            </a:prstGeom>
            <a:solidFill>
              <a:srgbClr val="E0F7F6"/>
            </a:solidFill>
            <a:ln w="12700">
              <a:solidFill>
                <a:srgbClr val="00A896"/>
              </a:solidFill>
              <a:prstDash val="solid"/>
            </a:ln>
          </p:spPr>
        </p:sp>
      </p:grpSp>
      <p:sp>
        <p:nvSpPr>
          <p:cNvPr id="6" name="Text 4"/>
          <p:cNvSpPr/>
          <p:nvPr/>
        </p:nvSpPr>
        <p:spPr>
          <a:xfrm>
            <a:off x="731520" y="2116434"/>
            <a:ext cx="3566160" cy="1146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F3F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Record fuel transactions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F3F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Real-time inventory alerts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F3F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Fleet account management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F3F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Financial summaries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F3F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Supplier invoice matching</a:t>
            </a:r>
            <a:endParaRPr lang="en-US" sz="11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0F434F0-8C0C-4F94-81C2-D917AFD67CF5}"/>
              </a:ext>
            </a:extLst>
          </p:cNvPr>
          <p:cNvGrpSpPr/>
          <p:nvPr/>
        </p:nvGrpSpPr>
        <p:grpSpPr>
          <a:xfrm>
            <a:off x="4754880" y="1374615"/>
            <a:ext cx="3931920" cy="2087042"/>
            <a:chOff x="4754880" y="1645920"/>
            <a:chExt cx="3931920" cy="3017520"/>
          </a:xfrm>
        </p:grpSpPr>
        <p:sp>
          <p:nvSpPr>
            <p:cNvPr id="7" name="Text 5"/>
            <p:cNvSpPr/>
            <p:nvPr/>
          </p:nvSpPr>
          <p:spPr>
            <a:xfrm>
              <a:off x="4754880" y="1645920"/>
              <a:ext cx="39319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8C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Non-Functional</a:t>
              </a:r>
              <a:endParaRPr lang="en-US" sz="16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4754880" y="2103120"/>
              <a:ext cx="3931920" cy="2560320"/>
            </a:xfrm>
            <a:prstGeom prst="rect">
              <a:avLst/>
            </a:prstGeom>
            <a:solidFill>
              <a:srgbClr val="FFF3E0"/>
            </a:solidFill>
            <a:ln w="12700">
              <a:solidFill>
                <a:srgbClr val="FF8C42"/>
              </a:solidFill>
              <a:prstDash val="solid"/>
            </a:ln>
          </p:spPr>
        </p:sp>
      </p:grpSp>
      <p:sp>
        <p:nvSpPr>
          <p:cNvPr id="9" name="Text 7"/>
          <p:cNvSpPr/>
          <p:nvPr/>
        </p:nvSpPr>
        <p:spPr>
          <a:xfrm>
            <a:off x="5029200" y="1958487"/>
            <a:ext cx="3383280" cy="13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F3F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Availability: 18 hrs/day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F3F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Security: RBAC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F3F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Performance: &lt;3s queries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F3F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Scalability: Multi-branch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F3F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Usability: 1-day training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9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0435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01450" y="65817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Analysis</a:t>
            </a:r>
            <a:endParaRPr lang="en-US" sz="3600" dirty="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26F73B9-65BD-46DB-BDE2-28EC75822794}"/>
              </a:ext>
            </a:extLst>
          </p:cNvPr>
          <p:cNvGrpSpPr/>
          <p:nvPr/>
        </p:nvGrpSpPr>
        <p:grpSpPr>
          <a:xfrm>
            <a:off x="457200" y="1520317"/>
            <a:ext cx="4114800" cy="2076994"/>
            <a:chOff x="457200" y="1645920"/>
            <a:chExt cx="4114800" cy="207699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5B78B93-FAD4-4CAF-BEFB-A306820B053E}"/>
                </a:ext>
              </a:extLst>
            </p:cNvPr>
            <p:cNvGrpSpPr/>
            <p:nvPr/>
          </p:nvGrpSpPr>
          <p:grpSpPr>
            <a:xfrm>
              <a:off x="457200" y="1645920"/>
              <a:ext cx="4114800" cy="2076994"/>
              <a:chOff x="457200" y="1645920"/>
              <a:chExt cx="4114800" cy="2076994"/>
            </a:xfrm>
          </p:grpSpPr>
          <p:sp>
            <p:nvSpPr>
              <p:cNvPr id="4" name="Text 2"/>
              <p:cNvSpPr/>
              <p:nvPr/>
            </p:nvSpPr>
            <p:spPr>
              <a:xfrm>
                <a:off x="457200" y="1645920"/>
                <a:ext cx="411480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300" b="1" dirty="0">
                    <a:solidFill>
                      <a:srgbClr val="00A89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Tangible (UGX 12.3M annually)</a:t>
                </a:r>
                <a:endParaRPr lang="en-US" sz="1300" dirty="0"/>
              </a:p>
            </p:txBody>
          </p:sp>
          <p:sp>
            <p:nvSpPr>
              <p:cNvPr id="5" name="Shape 3"/>
              <p:cNvSpPr/>
              <p:nvPr/>
            </p:nvSpPr>
            <p:spPr>
              <a:xfrm>
                <a:off x="457200" y="2103120"/>
                <a:ext cx="4114800" cy="1619794"/>
              </a:xfrm>
              <a:prstGeom prst="rect">
                <a:avLst/>
              </a:prstGeom>
              <a:solidFill>
                <a:srgbClr val="E0F7F6"/>
              </a:solidFill>
              <a:ln w="25400">
                <a:solidFill>
                  <a:srgbClr val="00A896"/>
                </a:solidFill>
                <a:prstDash val="solid"/>
              </a:ln>
            </p:spPr>
          </p:sp>
        </p:grpSp>
        <p:sp>
          <p:nvSpPr>
            <p:cNvPr id="6" name="Text 4"/>
            <p:cNvSpPr/>
            <p:nvPr/>
          </p:nvSpPr>
          <p:spPr>
            <a:xfrm>
              <a:off x="731520" y="2292530"/>
              <a:ext cx="3566160" cy="124097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Reduced fuel variance</a:t>
              </a:r>
              <a:endParaRPr lang="en-US" sz="11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Lower bad debt</a:t>
              </a:r>
              <a:endParaRPr lang="en-US" sz="11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Labor savings</a:t>
              </a:r>
              <a:endParaRPr lang="en-US" sz="11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Better supplier negotiations</a:t>
              </a:r>
              <a:endParaRPr lang="en-US" sz="11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Customer retention</a:t>
              </a:r>
              <a:endParaRPr lang="en-US" sz="11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4F0E843-FC5E-46B0-B0CF-26DCB6EB0630}"/>
              </a:ext>
            </a:extLst>
          </p:cNvPr>
          <p:cNvGrpSpPr/>
          <p:nvPr/>
        </p:nvGrpSpPr>
        <p:grpSpPr>
          <a:xfrm>
            <a:off x="4754880" y="1520317"/>
            <a:ext cx="3931920" cy="2076994"/>
            <a:chOff x="4754880" y="1645920"/>
            <a:chExt cx="3931920" cy="2076994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DF17896-170F-4614-9D85-84C77C87421B}"/>
                </a:ext>
              </a:extLst>
            </p:cNvPr>
            <p:cNvGrpSpPr/>
            <p:nvPr/>
          </p:nvGrpSpPr>
          <p:grpSpPr>
            <a:xfrm>
              <a:off x="4754880" y="1645920"/>
              <a:ext cx="3931920" cy="2076994"/>
              <a:chOff x="4754880" y="1645920"/>
              <a:chExt cx="3931920" cy="2076994"/>
            </a:xfrm>
          </p:grpSpPr>
          <p:sp>
            <p:nvSpPr>
              <p:cNvPr id="7" name="Text 5"/>
              <p:cNvSpPr/>
              <p:nvPr/>
            </p:nvSpPr>
            <p:spPr>
              <a:xfrm>
                <a:off x="4754880" y="1645920"/>
                <a:ext cx="393192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300" b="1" dirty="0">
                    <a:solidFill>
                      <a:srgbClr val="FF8C4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Intangible</a:t>
                </a:r>
                <a:endParaRPr lang="en-US" sz="1300" dirty="0"/>
              </a:p>
            </p:txBody>
          </p:sp>
          <p:sp>
            <p:nvSpPr>
              <p:cNvPr id="8" name="Shape 6"/>
              <p:cNvSpPr/>
              <p:nvPr/>
            </p:nvSpPr>
            <p:spPr>
              <a:xfrm>
                <a:off x="4754880" y="2103120"/>
                <a:ext cx="3931920" cy="1619794"/>
              </a:xfrm>
              <a:prstGeom prst="rect">
                <a:avLst/>
              </a:prstGeom>
              <a:solidFill>
                <a:srgbClr val="FFF3E0"/>
              </a:solidFill>
              <a:ln w="25400">
                <a:solidFill>
                  <a:srgbClr val="FF8C42"/>
                </a:solidFill>
                <a:prstDash val="solid"/>
              </a:ln>
            </p:spPr>
          </p:sp>
        </p:grpSp>
        <p:sp>
          <p:nvSpPr>
            <p:cNvPr id="9" name="Text 7"/>
            <p:cNvSpPr/>
            <p:nvPr/>
          </p:nvSpPr>
          <p:spPr>
            <a:xfrm>
              <a:off x="5029200" y="2334984"/>
              <a:ext cx="3383280" cy="115606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Better decisions</a:t>
              </a:r>
              <a:endParaRPr lang="en-US" sz="11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Customer trust</a:t>
              </a:r>
              <a:endParaRPr lang="en-US" sz="11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Compliance</a:t>
              </a:r>
              <a:endParaRPr lang="en-US" sz="11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Accountability</a:t>
              </a:r>
              <a:endParaRPr lang="en-US" sz="11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Knowledge retention</a:t>
              </a:r>
              <a:endParaRPr lang="en-US" sz="11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Competitive positioning</a:t>
              </a:r>
              <a:endParaRPr lang="en-US" sz="11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91886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</a:t>
            </a:r>
            <a:endParaRPr lang="en-US" sz="3600" dirty="0">
              <a:solidFill>
                <a:schemeClr val="bg1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E4BBEF6-4AA0-4F91-AB68-9B30D684A978}"/>
              </a:ext>
            </a:extLst>
          </p:cNvPr>
          <p:cNvGrpSpPr/>
          <p:nvPr/>
        </p:nvGrpSpPr>
        <p:grpSpPr>
          <a:xfrm>
            <a:off x="457200" y="1204801"/>
            <a:ext cx="4114800" cy="1280160"/>
            <a:chOff x="457200" y="1737360"/>
            <a:chExt cx="4114800" cy="1280160"/>
          </a:xfrm>
        </p:grpSpPr>
        <p:sp>
          <p:nvSpPr>
            <p:cNvPr id="4" name="Shape 2"/>
            <p:cNvSpPr/>
            <p:nvPr/>
          </p:nvSpPr>
          <p:spPr>
            <a:xfrm>
              <a:off x="457200" y="1737360"/>
              <a:ext cx="4114800" cy="1280160"/>
            </a:xfrm>
            <a:prstGeom prst="rect">
              <a:avLst/>
            </a:prstGeom>
            <a:solidFill>
              <a:srgbClr val="FF8C42"/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768698" y="1828800"/>
              <a:ext cx="3476731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UGX 6.8M</a:t>
              </a:r>
              <a:endParaRPr lang="en-US" sz="3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457200" y="2423160"/>
              <a:ext cx="4114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One-time Cost</a:t>
              </a:r>
              <a:endParaRPr lang="en-US" sz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B92E7F6-2C64-41DC-8AA7-F802E32A5AC3}"/>
              </a:ext>
            </a:extLst>
          </p:cNvPr>
          <p:cNvGrpSpPr/>
          <p:nvPr/>
        </p:nvGrpSpPr>
        <p:grpSpPr>
          <a:xfrm>
            <a:off x="4754880" y="1204801"/>
            <a:ext cx="3931920" cy="1280160"/>
            <a:chOff x="4754880" y="1737360"/>
            <a:chExt cx="3931920" cy="1280160"/>
          </a:xfrm>
        </p:grpSpPr>
        <p:sp>
          <p:nvSpPr>
            <p:cNvPr id="7" name="Shape 5"/>
            <p:cNvSpPr/>
            <p:nvPr/>
          </p:nvSpPr>
          <p:spPr>
            <a:xfrm>
              <a:off x="4754880" y="1737360"/>
              <a:ext cx="3931920" cy="1280160"/>
            </a:xfrm>
            <a:prstGeom prst="rect">
              <a:avLst/>
            </a:prstGeom>
            <a:solidFill>
              <a:srgbClr val="00A896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5210070" y="1828800"/>
              <a:ext cx="3089868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UGX 2.21M</a:t>
              </a:r>
              <a:endParaRPr lang="en-US" sz="3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754880" y="2423160"/>
              <a:ext cx="39319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Annual Cost</a:t>
              </a:r>
              <a:endParaRPr lang="en-US" sz="12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74D7917-E634-4713-8B87-1E9FFCDE5181}"/>
              </a:ext>
            </a:extLst>
          </p:cNvPr>
          <p:cNvGrpSpPr/>
          <p:nvPr/>
        </p:nvGrpSpPr>
        <p:grpSpPr>
          <a:xfrm>
            <a:off x="457200" y="2899954"/>
            <a:ext cx="8229600" cy="646859"/>
            <a:chOff x="457200" y="3291840"/>
            <a:chExt cx="8229600" cy="646859"/>
          </a:xfrm>
        </p:grpSpPr>
        <p:sp>
          <p:nvSpPr>
            <p:cNvPr id="10" name="Shape 8"/>
            <p:cNvSpPr/>
            <p:nvPr/>
          </p:nvSpPr>
          <p:spPr>
            <a:xfrm>
              <a:off x="457200" y="3291840"/>
              <a:ext cx="8229600" cy="646859"/>
            </a:xfrm>
            <a:prstGeom prst="rect">
              <a:avLst/>
            </a:prstGeom>
            <a:solidFill>
              <a:srgbClr val="F5F5F5"/>
            </a:solidFill>
            <a:ln w="12700">
              <a:solidFill>
                <a:srgbClr val="2F3F4F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685800" y="3426488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Return On Investment</a:t>
              </a:r>
              <a:endParaRPr lang="en-US" sz="1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285810" y="3429000"/>
              <a:ext cx="2200589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8C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240%</a:t>
              </a:r>
              <a:endParaRPr lang="en-US" sz="2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957165" y="3429000"/>
              <a:ext cx="25603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3 years</a:t>
              </a:r>
              <a:endParaRPr lang="en-US" sz="11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B8B8D9A-CD5B-45F4-BB75-7DDBD03EBDD1}"/>
              </a:ext>
            </a:extLst>
          </p:cNvPr>
          <p:cNvGrpSpPr/>
          <p:nvPr/>
        </p:nvGrpSpPr>
        <p:grpSpPr>
          <a:xfrm>
            <a:off x="457200" y="3874645"/>
            <a:ext cx="8229600" cy="646859"/>
            <a:chOff x="457200" y="4206240"/>
            <a:chExt cx="8229600" cy="646859"/>
          </a:xfrm>
        </p:grpSpPr>
        <p:sp>
          <p:nvSpPr>
            <p:cNvPr id="14" name="Shape 12"/>
            <p:cNvSpPr/>
            <p:nvPr/>
          </p:nvSpPr>
          <p:spPr>
            <a:xfrm>
              <a:off x="457200" y="4206240"/>
              <a:ext cx="8229600" cy="646859"/>
            </a:xfrm>
            <a:prstGeom prst="rect">
              <a:avLst/>
            </a:prstGeom>
            <a:solidFill>
              <a:srgbClr val="F5F5F5"/>
            </a:solidFill>
            <a:ln w="12700">
              <a:solidFill>
                <a:srgbClr val="2F3F4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731520" y="438912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Payback</a:t>
              </a:r>
              <a:endParaRPr lang="en-US" sz="12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285810" y="4272304"/>
              <a:ext cx="2743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8C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18 months</a:t>
              </a:r>
              <a:endParaRPr lang="en-US" sz="2000" dirty="0"/>
            </a:p>
          </p:txBody>
        </p:sp>
      </p:grpSp>
      <p:sp>
        <p:nvSpPr>
          <p:cNvPr id="17" name="Text 15"/>
          <p:cNvSpPr/>
          <p:nvPr/>
        </p:nvSpPr>
        <p:spPr>
          <a:xfrm>
            <a:off x="5943600" y="4389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0435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21547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Issues &amp; Adoption Strategy</a:t>
            </a:r>
            <a:endParaRPr lang="en-US" sz="3600" dirty="0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1998542-1E2A-4251-9F8F-9C5E92740AA7}"/>
              </a:ext>
            </a:extLst>
          </p:cNvPr>
          <p:cNvGrpSpPr/>
          <p:nvPr/>
        </p:nvGrpSpPr>
        <p:grpSpPr>
          <a:xfrm>
            <a:off x="457200" y="1409787"/>
            <a:ext cx="4114800" cy="2137284"/>
            <a:chOff x="457200" y="1645920"/>
            <a:chExt cx="4114800" cy="2137284"/>
          </a:xfrm>
        </p:grpSpPr>
        <p:sp>
          <p:nvSpPr>
            <p:cNvPr id="4" name="Text 2"/>
            <p:cNvSpPr/>
            <p:nvPr/>
          </p:nvSpPr>
          <p:spPr>
            <a:xfrm>
              <a:off x="457200" y="1645920"/>
              <a:ext cx="4114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8C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Challenges</a:t>
              </a:r>
              <a:endParaRPr lang="en-US" sz="14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457200" y="2103120"/>
              <a:ext cx="4114800" cy="1680084"/>
            </a:xfrm>
            <a:prstGeom prst="rect">
              <a:avLst/>
            </a:prstGeom>
            <a:solidFill>
              <a:srgbClr val="FFE8E8"/>
            </a:solidFill>
            <a:ln w="12700">
              <a:solidFill>
                <a:srgbClr val="FF8C42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731520" y="2377440"/>
              <a:ext cx="3566160" cy="11595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Literacy gaps</a:t>
              </a:r>
              <a:endParaRPr lang="en-US" sz="12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Resistance to change</a:t>
              </a:r>
              <a:endParaRPr lang="en-US" sz="12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Fear of technology</a:t>
              </a:r>
              <a:endParaRPr lang="en-US" sz="12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Data discipline issues</a:t>
              </a:r>
              <a:endParaRPr lang="en-US" sz="12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2EF8015-703F-4055-930C-0150DA072668}"/>
              </a:ext>
            </a:extLst>
          </p:cNvPr>
          <p:cNvGrpSpPr/>
          <p:nvPr/>
        </p:nvGrpSpPr>
        <p:grpSpPr>
          <a:xfrm>
            <a:off x="4754880" y="1409787"/>
            <a:ext cx="3931920" cy="2137284"/>
            <a:chOff x="4754880" y="1645920"/>
            <a:chExt cx="3931920" cy="2137284"/>
          </a:xfrm>
        </p:grpSpPr>
        <p:sp>
          <p:nvSpPr>
            <p:cNvPr id="7" name="Text 5"/>
            <p:cNvSpPr/>
            <p:nvPr/>
          </p:nvSpPr>
          <p:spPr>
            <a:xfrm>
              <a:off x="4754880" y="1645920"/>
              <a:ext cx="39319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0A8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Training Plan</a:t>
              </a:r>
              <a:endParaRPr lang="en-US" sz="14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4754880" y="2103120"/>
              <a:ext cx="3931920" cy="1680084"/>
            </a:xfrm>
            <a:prstGeom prst="rect">
              <a:avLst/>
            </a:prstGeom>
            <a:solidFill>
              <a:srgbClr val="E0F7F6"/>
            </a:solidFill>
            <a:ln w="12700">
              <a:solidFill>
                <a:srgbClr val="00A896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5029200" y="2377440"/>
              <a:ext cx="3383280" cy="11595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Pre-launch communication</a:t>
              </a:r>
              <a:endParaRPr lang="en-US" sz="12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Role-specific sessions</a:t>
              </a:r>
              <a:endParaRPr lang="en-US" sz="12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Go-live support</a:t>
              </a:r>
              <a:endParaRPr lang="en-US" sz="12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Post-launch reviews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81838" y="60793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&amp; Mitigation</a:t>
            </a:r>
            <a:endParaRPr lang="en-US" sz="3600" dirty="0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513C580-538F-4715-B8BC-E56A4E818E5D}"/>
              </a:ext>
            </a:extLst>
          </p:cNvPr>
          <p:cNvGrpSpPr/>
          <p:nvPr/>
        </p:nvGrpSpPr>
        <p:grpSpPr>
          <a:xfrm>
            <a:off x="457200" y="1036491"/>
            <a:ext cx="4114800" cy="943538"/>
            <a:chOff x="457200" y="1737360"/>
            <a:chExt cx="4114800" cy="1188720"/>
          </a:xfrm>
        </p:grpSpPr>
        <p:sp>
          <p:nvSpPr>
            <p:cNvPr id="4" name="Shape 2"/>
            <p:cNvSpPr/>
            <p:nvPr/>
          </p:nvSpPr>
          <p:spPr>
            <a:xfrm>
              <a:off x="457200" y="1737360"/>
              <a:ext cx="4114800" cy="1188720"/>
            </a:xfrm>
            <a:prstGeom prst="rect">
              <a:avLst/>
            </a:prstGeom>
            <a:solidFill>
              <a:srgbClr val="F5F5F5"/>
            </a:solidFill>
            <a:ln w="25400">
              <a:solidFill>
                <a:srgbClr val="FF8C42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731520" y="1828800"/>
              <a:ext cx="35661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Technical</a:t>
              </a:r>
              <a:endParaRPr lang="en-US" sz="13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31520" y="2194560"/>
              <a:ext cx="356616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Data loss, downtime, cybersecurity</a:t>
              </a:r>
              <a:endParaRPr lang="en-US" sz="10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7BE1C33-67E8-4582-A886-C9F071CDBD6B}"/>
              </a:ext>
            </a:extLst>
          </p:cNvPr>
          <p:cNvGrpSpPr/>
          <p:nvPr/>
        </p:nvGrpSpPr>
        <p:grpSpPr>
          <a:xfrm>
            <a:off x="457200" y="2186060"/>
            <a:ext cx="4114800" cy="943538"/>
            <a:chOff x="457200" y="3200400"/>
            <a:chExt cx="4114800" cy="1188720"/>
          </a:xfrm>
        </p:grpSpPr>
        <p:sp>
          <p:nvSpPr>
            <p:cNvPr id="7" name="Shape 5"/>
            <p:cNvSpPr/>
            <p:nvPr/>
          </p:nvSpPr>
          <p:spPr>
            <a:xfrm>
              <a:off x="457200" y="3200400"/>
              <a:ext cx="4114800" cy="1188720"/>
            </a:xfrm>
            <a:prstGeom prst="rect">
              <a:avLst/>
            </a:prstGeom>
            <a:solidFill>
              <a:srgbClr val="F5F5F5"/>
            </a:solidFill>
            <a:ln w="25400">
              <a:solidFill>
                <a:srgbClr val="00A896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731520" y="3291840"/>
              <a:ext cx="35661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Organisational</a:t>
              </a:r>
              <a:endParaRPr lang="en-US" sz="13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31520" y="3657600"/>
              <a:ext cx="356616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Resistance, champion loss, poor data quality</a:t>
              </a:r>
              <a:endParaRPr lang="en-US" sz="10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0F43D34-7915-4898-B786-E906DB110AFB}"/>
              </a:ext>
            </a:extLst>
          </p:cNvPr>
          <p:cNvGrpSpPr/>
          <p:nvPr/>
        </p:nvGrpSpPr>
        <p:grpSpPr>
          <a:xfrm>
            <a:off x="457200" y="3428500"/>
            <a:ext cx="4114800" cy="943538"/>
            <a:chOff x="457200" y="4663440"/>
            <a:chExt cx="4114800" cy="1188720"/>
          </a:xfrm>
        </p:grpSpPr>
        <p:sp>
          <p:nvSpPr>
            <p:cNvPr id="10" name="Shape 8"/>
            <p:cNvSpPr/>
            <p:nvPr/>
          </p:nvSpPr>
          <p:spPr>
            <a:xfrm>
              <a:off x="457200" y="4663440"/>
              <a:ext cx="4114800" cy="1188720"/>
            </a:xfrm>
            <a:prstGeom prst="rect">
              <a:avLst/>
            </a:prstGeom>
            <a:solidFill>
              <a:srgbClr val="F5F5F5"/>
            </a:solidFill>
            <a:ln w="25400">
              <a:solidFill>
                <a:srgbClr val="FF8C42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731520" y="4754880"/>
              <a:ext cx="35661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Environmental</a:t>
              </a:r>
              <a:endParaRPr lang="en-US" sz="13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31520" y="5120640"/>
              <a:ext cx="356616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Power outages, internet loss</a:t>
              </a:r>
              <a:endParaRPr lang="en-US" sz="10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D08775C-E011-4AA9-BDCE-26DC5EC8A634}"/>
              </a:ext>
            </a:extLst>
          </p:cNvPr>
          <p:cNvGrpSpPr/>
          <p:nvPr/>
        </p:nvGrpSpPr>
        <p:grpSpPr>
          <a:xfrm>
            <a:off x="4754880" y="1036490"/>
            <a:ext cx="3931920" cy="3335547"/>
            <a:chOff x="4754880" y="1737360"/>
            <a:chExt cx="3931920" cy="4663440"/>
          </a:xfrm>
        </p:grpSpPr>
        <p:sp>
          <p:nvSpPr>
            <p:cNvPr id="13" name="Shape 11"/>
            <p:cNvSpPr/>
            <p:nvPr/>
          </p:nvSpPr>
          <p:spPr>
            <a:xfrm>
              <a:off x="4754880" y="1737360"/>
              <a:ext cx="3931920" cy="4663440"/>
            </a:xfrm>
            <a:prstGeom prst="rect">
              <a:avLst/>
            </a:prstGeom>
            <a:solidFill>
              <a:srgbClr val="E0F7F6"/>
            </a:solidFill>
            <a:ln w="25400">
              <a:solidFill>
                <a:srgbClr val="00A896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5029200" y="1920240"/>
              <a:ext cx="33832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Mitigation Strategy</a:t>
              </a:r>
              <a:endParaRPr lang="en-US" sz="13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029200" y="2377440"/>
              <a:ext cx="3383280" cy="3840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Backups</a:t>
              </a:r>
              <a:endParaRPr lang="en-US" sz="11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UPS system</a:t>
              </a:r>
              <a:endParaRPr lang="en-US" sz="11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Validation rules</a:t>
              </a:r>
              <a:endParaRPr lang="en-US" sz="11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Stakeholder engagement</a:t>
              </a:r>
              <a:endParaRPr lang="en-US" sz="11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Data entry quality training</a:t>
              </a:r>
              <a:endParaRPr lang="en-US" sz="11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0435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61257" y="685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Limitations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22031" y="81994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8C4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Current scope awareness for future planning</a:t>
            </a:r>
            <a:endParaRPr lang="en-US" sz="13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9729CE2-9D0C-43E9-8B6F-8C8049BE1E62}"/>
              </a:ext>
            </a:extLst>
          </p:cNvPr>
          <p:cNvGrpSpPr/>
          <p:nvPr/>
        </p:nvGrpSpPr>
        <p:grpSpPr>
          <a:xfrm>
            <a:off x="564719" y="1355522"/>
            <a:ext cx="7589520" cy="257238"/>
            <a:chOff x="564719" y="1285184"/>
            <a:chExt cx="7589520" cy="257238"/>
          </a:xfrm>
        </p:grpSpPr>
        <p:sp>
          <p:nvSpPr>
            <p:cNvPr id="5" name="Shape 3"/>
            <p:cNvSpPr/>
            <p:nvPr/>
          </p:nvSpPr>
          <p:spPr>
            <a:xfrm>
              <a:off x="564719" y="1422344"/>
              <a:ext cx="182880" cy="102895"/>
            </a:xfrm>
            <a:prstGeom prst="ellipse">
              <a:avLst/>
            </a:prstGeom>
            <a:solidFill>
              <a:srgbClr val="FF8C42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1021919" y="1285184"/>
              <a:ext cx="7132320" cy="25723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Single station design (future expansion possible)</a:t>
              </a:r>
              <a:endParaRPr lang="en-US" sz="12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0C89CDB-A96F-4D39-8F9A-6F848EA8788E}"/>
              </a:ext>
            </a:extLst>
          </p:cNvPr>
          <p:cNvGrpSpPr/>
          <p:nvPr/>
        </p:nvGrpSpPr>
        <p:grpSpPr>
          <a:xfrm>
            <a:off x="564719" y="1779563"/>
            <a:ext cx="7589520" cy="257238"/>
            <a:chOff x="564719" y="1925264"/>
            <a:chExt cx="7589520" cy="257238"/>
          </a:xfrm>
        </p:grpSpPr>
        <p:sp>
          <p:nvSpPr>
            <p:cNvPr id="7" name="Shape 5"/>
            <p:cNvSpPr/>
            <p:nvPr/>
          </p:nvSpPr>
          <p:spPr>
            <a:xfrm>
              <a:off x="564719" y="2062424"/>
              <a:ext cx="182880" cy="102895"/>
            </a:xfrm>
            <a:prstGeom prst="ellipse">
              <a:avLst/>
            </a:prstGeom>
            <a:solidFill>
              <a:srgbClr val="00A896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1021919" y="1925264"/>
              <a:ext cx="7132320" cy="25723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Manual pump readings required</a:t>
              </a:r>
              <a:endParaRPr lang="en-US" sz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BAFD30A-ABB0-40CB-92CD-CAF157CB3F53}"/>
              </a:ext>
            </a:extLst>
          </p:cNvPr>
          <p:cNvGrpSpPr/>
          <p:nvPr/>
        </p:nvGrpSpPr>
        <p:grpSpPr>
          <a:xfrm>
            <a:off x="564719" y="2198578"/>
            <a:ext cx="7589520" cy="257238"/>
            <a:chOff x="564719" y="2565344"/>
            <a:chExt cx="7589520" cy="257238"/>
          </a:xfrm>
        </p:grpSpPr>
        <p:sp>
          <p:nvSpPr>
            <p:cNvPr id="9" name="Shape 7"/>
            <p:cNvSpPr/>
            <p:nvPr/>
          </p:nvSpPr>
          <p:spPr>
            <a:xfrm>
              <a:off x="564719" y="2702504"/>
              <a:ext cx="182880" cy="102895"/>
            </a:xfrm>
            <a:prstGeom prst="ellipse">
              <a:avLst/>
            </a:prstGeom>
            <a:solidFill>
              <a:srgbClr val="FF8C42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1021919" y="2565344"/>
              <a:ext cx="7132320" cy="25723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No automated bank reconciliation</a:t>
              </a:r>
              <a:endParaRPr lang="en-US" sz="12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AF23570-F9CB-4333-9186-3CC856B84E36}"/>
              </a:ext>
            </a:extLst>
          </p:cNvPr>
          <p:cNvGrpSpPr/>
          <p:nvPr/>
        </p:nvGrpSpPr>
        <p:grpSpPr>
          <a:xfrm>
            <a:off x="564719" y="2617595"/>
            <a:ext cx="7589520" cy="257238"/>
            <a:chOff x="564719" y="3205424"/>
            <a:chExt cx="7589520" cy="257238"/>
          </a:xfrm>
        </p:grpSpPr>
        <p:sp>
          <p:nvSpPr>
            <p:cNvPr id="11" name="Shape 9"/>
            <p:cNvSpPr/>
            <p:nvPr/>
          </p:nvSpPr>
          <p:spPr>
            <a:xfrm>
              <a:off x="564719" y="3342584"/>
              <a:ext cx="182880" cy="102895"/>
            </a:xfrm>
            <a:prstGeom prst="ellipse">
              <a:avLst/>
            </a:prstGeom>
            <a:solidFill>
              <a:srgbClr val="00A896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1021919" y="3205424"/>
              <a:ext cx="7132320" cy="25723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Dependence on data entry quality</a:t>
              </a:r>
              <a:endParaRPr lang="en-US" sz="12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65449AB-E0FD-4CA8-B3B8-1B336D9E4A87}"/>
              </a:ext>
            </a:extLst>
          </p:cNvPr>
          <p:cNvGrpSpPr/>
          <p:nvPr/>
        </p:nvGrpSpPr>
        <p:grpSpPr>
          <a:xfrm>
            <a:off x="564719" y="3081835"/>
            <a:ext cx="7589520" cy="257238"/>
            <a:chOff x="564719" y="3845504"/>
            <a:chExt cx="7589520" cy="257238"/>
          </a:xfrm>
        </p:grpSpPr>
        <p:sp>
          <p:nvSpPr>
            <p:cNvPr id="13" name="Shape 11"/>
            <p:cNvSpPr/>
            <p:nvPr/>
          </p:nvSpPr>
          <p:spPr>
            <a:xfrm>
              <a:off x="564719" y="3982664"/>
              <a:ext cx="182880" cy="102895"/>
            </a:xfrm>
            <a:prstGeom prst="ellipse">
              <a:avLst/>
            </a:prstGeom>
            <a:solidFill>
              <a:srgbClr val="FF8C42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1021919" y="3845504"/>
              <a:ext cx="7132320" cy="25723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No predictive analytics</a:t>
              </a:r>
              <a:endParaRPr lang="en-US" sz="12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A823B04-88F6-4EF2-AD88-ED41FE7060E7}"/>
              </a:ext>
            </a:extLst>
          </p:cNvPr>
          <p:cNvGrpSpPr/>
          <p:nvPr/>
        </p:nvGrpSpPr>
        <p:grpSpPr>
          <a:xfrm>
            <a:off x="564719" y="3520946"/>
            <a:ext cx="7589520" cy="257238"/>
            <a:chOff x="564719" y="4485584"/>
            <a:chExt cx="7589520" cy="257238"/>
          </a:xfrm>
        </p:grpSpPr>
        <p:sp>
          <p:nvSpPr>
            <p:cNvPr id="15" name="Shape 13"/>
            <p:cNvSpPr/>
            <p:nvPr/>
          </p:nvSpPr>
          <p:spPr>
            <a:xfrm>
              <a:off x="564719" y="4622744"/>
              <a:ext cx="182880" cy="102895"/>
            </a:xfrm>
            <a:prstGeom prst="ellipse">
              <a:avLst/>
            </a:prstGeom>
            <a:solidFill>
              <a:srgbClr val="00A896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1021919" y="4485584"/>
              <a:ext cx="7132320" cy="25723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F3F4F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Training dependency for ongoing operations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965960" cy="2743200"/>
          </a:xfrm>
          <a:prstGeom prst="rect">
            <a:avLst/>
          </a:prstGeom>
          <a:solidFill>
            <a:srgbClr val="E0F7F6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1580" y="20116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12115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F3F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Weeks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33375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79476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F3F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Gathering &amp; analysis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1828800"/>
            <a:ext cx="1965960" cy="2743200"/>
          </a:xfrm>
          <a:prstGeom prst="rect">
            <a:avLst/>
          </a:prstGeom>
          <a:solidFill>
            <a:srgbClr val="E0F7F6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4700" y="20116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33147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97480" y="26517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292608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F3F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Weeks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97480" y="33375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97480" y="379476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F3F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Prototype development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828800"/>
            <a:ext cx="1965960" cy="2743200"/>
          </a:xfrm>
          <a:prstGeom prst="rect">
            <a:avLst/>
          </a:prstGeom>
          <a:solidFill>
            <a:srgbClr val="E0F7F6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17820" y="20116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541782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00600" y="26517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292608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F3F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Weeks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33375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79476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F3F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UAT &amp; bug fixes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66560" y="1828800"/>
            <a:ext cx="1965960" cy="2743200"/>
          </a:xfrm>
          <a:prstGeom prst="rect">
            <a:avLst/>
          </a:prstGeom>
          <a:solidFill>
            <a:srgbClr val="E0F7F6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20940" y="20116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75209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03720" y="26517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03720" y="292608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F3F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Weeks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03720" y="33375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03720" y="379476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F3F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Training &amp; support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4" grpId="0" animBg="1"/>
      <p:bldP spid="15" grpId="0" animBg="1"/>
      <p:bldP spid="16" grpId="0" animBg="1"/>
      <p:bldP spid="17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5169" y="-40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&amp; Conclusion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-1" y="735540"/>
            <a:ext cx="9143999" cy="4407960"/>
          </a:xfrm>
          <a:prstGeom prst="rect">
            <a:avLst/>
          </a:prstGeom>
          <a:solidFill>
            <a:srgbClr val="E0F7F6"/>
          </a:solidFill>
          <a:ln w="381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499" y="1176336"/>
            <a:ext cx="8000999" cy="3526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case for DBMS deployment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outweigh costs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are manageable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roadmap to go-live in 12 weeks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432</Words>
  <Application>Microsoft Office PowerPoint</Application>
  <PresentationFormat>On-screen Show (16:9)</PresentationFormat>
  <Paragraphs>152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Wasenda Blasio Marvin</cp:lastModifiedBy>
  <cp:revision>3</cp:revision>
  <dcterms:created xsi:type="dcterms:W3CDTF">2026-05-05T08:32:59Z</dcterms:created>
  <dcterms:modified xsi:type="dcterms:W3CDTF">2026-05-05T13:18:50Z</dcterms:modified>
</cp:coreProperties>
</file>